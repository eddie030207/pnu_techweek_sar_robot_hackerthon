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46306" cy="6858000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5623559" y="0"/>
            <a:ext cx="6568135" cy="6858000"/>
          </a:xfrm>
          <a:prstGeom prst="rect">
            <a:avLst/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Rectangle 3"/>
          <p:cNvSpPr/>
          <p:nvPr/>
        </p:nvSpPr>
        <p:spPr>
          <a:xfrm>
            <a:off x="658368" y="612648"/>
            <a:ext cx="493777" cy="73153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TextBox 4"/>
          <p:cNvSpPr txBox="1"/>
          <p:nvPr/>
        </p:nvSpPr>
        <p:spPr>
          <a:xfrm>
            <a:off x="1271016" y="484631"/>
            <a:ext cx="347472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PNU TECH WEEK 2026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658367" y="1261872"/>
            <a:ext cx="4608578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4000">
                <a:solidFill>
                  <a:srgbClr val="111111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자율 탐색</a:t>
            </a:r>
          </a:p>
          <a:p>
            <a:pPr>
              <a:defRPr sz="4000">
                <a:solidFill>
                  <a:srgbClr val="111111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구조 로봇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685800" y="2606039"/>
            <a:ext cx="4526280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8000"/>
              </a:lnSpc>
              <a:defRPr sz="21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Autonomous Search and Rescue</a:t>
            </a:r>
          </a:p>
          <a:p>
            <a:pPr>
              <a:lnSpc>
                <a:spcPct val="108000"/>
              </a:lnSpc>
              <a:defRPr sz="21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with TurtleBot3</a:t>
            </a:r>
          </a:p>
        </p:txBody>
      </p:sp>
      <p:sp>
        <p:nvSpPr>
          <p:cNvPr id="100" name="Rectangle 7"/>
          <p:cNvSpPr/>
          <p:nvPr/>
        </p:nvSpPr>
        <p:spPr>
          <a:xfrm>
            <a:off x="685800" y="3399789"/>
            <a:ext cx="4297680" cy="12701"/>
          </a:xfrm>
          <a:prstGeom prst="rect">
            <a:avLst/>
          </a:prstGeom>
          <a:solidFill>
            <a:srgbClr val="D7DED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8"/>
          <p:cNvSpPr txBox="1"/>
          <p:nvPr/>
        </p:nvSpPr>
        <p:spPr>
          <a:xfrm>
            <a:off x="685800" y="3694176"/>
            <a:ext cx="42976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PNU TECH WEEK 2026 해커톤</a:t>
            </a:r>
          </a:p>
        </p:txBody>
      </p:sp>
      <p:sp>
        <p:nvSpPr>
          <p:cNvPr id="102" name="TextBox 9"/>
          <p:cNvSpPr txBox="1"/>
          <p:nvPr/>
        </p:nvSpPr>
        <p:spPr>
          <a:xfrm>
            <a:off x="685799" y="4133086"/>
            <a:ext cx="358668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11111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김대욱 팀(정원석, 박유현, 한대희)</a:t>
            </a:r>
          </a:p>
        </p:txBody>
      </p:sp>
      <p:sp>
        <p:nvSpPr>
          <p:cNvPr id="103" name="Rectangle 10"/>
          <p:cNvSpPr/>
          <p:nvPr/>
        </p:nvSpPr>
        <p:spPr>
          <a:xfrm>
            <a:off x="5957315" y="1095652"/>
            <a:ext cx="5779009" cy="355112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04" name="Picture 11" descr="Picture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20" y="1127655"/>
            <a:ext cx="5715001" cy="3487120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TextBox 12"/>
          <p:cNvSpPr txBox="1"/>
          <p:nvPr/>
        </p:nvSpPr>
        <p:spPr>
          <a:xfrm>
            <a:off x="5989320" y="4812133"/>
            <a:ext cx="57150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두 개의 사과를 찾고 복귀한 임무 완료 화면</a:t>
            </a:r>
          </a:p>
        </p:txBody>
      </p:sp>
      <p:sp>
        <p:nvSpPr>
          <p:cNvPr id="106" name="Rounded Rectangle 13"/>
          <p:cNvSpPr/>
          <p:nvPr/>
        </p:nvSpPr>
        <p:spPr>
          <a:xfrm>
            <a:off x="5989320" y="5413247"/>
            <a:ext cx="1078993" cy="347473"/>
          </a:xfrm>
          <a:prstGeom prst="roundRect">
            <a:avLst>
              <a:gd name="adj" fmla="val 18000"/>
            </a:avLst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14"/>
          <p:cNvSpPr txBox="1"/>
          <p:nvPr/>
        </p:nvSpPr>
        <p:spPr>
          <a:xfrm>
            <a:off x="5989320" y="5478017"/>
            <a:ext cx="107899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자율 탐색</a:t>
            </a:r>
          </a:p>
        </p:txBody>
      </p:sp>
      <p:sp>
        <p:nvSpPr>
          <p:cNvPr id="108" name="Rounded Rectangle 15"/>
          <p:cNvSpPr/>
          <p:nvPr/>
        </p:nvSpPr>
        <p:spPr>
          <a:xfrm>
            <a:off x="7214616" y="5413247"/>
            <a:ext cx="1078993" cy="347473"/>
          </a:xfrm>
          <a:prstGeom prst="roundRect">
            <a:avLst>
              <a:gd name="adj" fmla="val 18000"/>
            </a:avLst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TextBox 16"/>
          <p:cNvSpPr txBox="1"/>
          <p:nvPr/>
        </p:nvSpPr>
        <p:spPr>
          <a:xfrm>
            <a:off x="7214616" y="5478017"/>
            <a:ext cx="107899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사과 탐지</a:t>
            </a:r>
          </a:p>
        </p:txBody>
      </p:sp>
      <p:sp>
        <p:nvSpPr>
          <p:cNvPr id="110" name="Rounded Rectangle 17"/>
          <p:cNvSpPr/>
          <p:nvPr/>
        </p:nvSpPr>
        <p:spPr>
          <a:xfrm>
            <a:off x="8439911" y="5413247"/>
            <a:ext cx="1078993" cy="347473"/>
          </a:xfrm>
          <a:prstGeom prst="roundRect">
            <a:avLst>
              <a:gd name="adj" fmla="val 18000"/>
            </a:avLst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18"/>
          <p:cNvSpPr txBox="1"/>
          <p:nvPr/>
        </p:nvSpPr>
        <p:spPr>
          <a:xfrm>
            <a:off x="8439911" y="5478017"/>
            <a:ext cx="107899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사람 회피</a:t>
            </a:r>
          </a:p>
        </p:txBody>
      </p:sp>
      <p:sp>
        <p:nvSpPr>
          <p:cNvPr id="112" name="Rounded Rectangle 19"/>
          <p:cNvSpPr/>
          <p:nvPr/>
        </p:nvSpPr>
        <p:spPr>
          <a:xfrm>
            <a:off x="9665207" y="5413247"/>
            <a:ext cx="1078993" cy="347473"/>
          </a:xfrm>
          <a:prstGeom prst="roundRect">
            <a:avLst>
              <a:gd name="adj" fmla="val 18000"/>
            </a:avLst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20"/>
          <p:cNvSpPr txBox="1"/>
          <p:nvPr/>
        </p:nvSpPr>
        <p:spPr>
          <a:xfrm>
            <a:off x="9665207" y="5478017"/>
            <a:ext cx="107899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자동 복귀</a:t>
            </a:r>
          </a:p>
        </p:txBody>
      </p:sp>
      <p:sp>
        <p:nvSpPr>
          <p:cNvPr id="114" name="TextBox 21"/>
          <p:cNvSpPr txBox="1"/>
          <p:nvPr/>
        </p:nvSpPr>
        <p:spPr>
          <a:xfrm>
            <a:off x="685800" y="6309359"/>
            <a:ext cx="45720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8B9690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SLAM | Vision | Planning | Human-aware Navigation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Rectangle 2"/>
          <p:cNvSpPr/>
          <p:nvPr/>
        </p:nvSpPr>
        <p:spPr>
          <a:xfrm>
            <a:off x="109727" y="0"/>
            <a:ext cx="12081969" cy="64008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3"/>
          <p:cNvSpPr txBox="1"/>
          <p:nvPr/>
        </p:nvSpPr>
        <p:spPr>
          <a:xfrm>
            <a:off x="658367" y="365759"/>
            <a:ext cx="539496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400">
                <a:solidFill>
                  <a:srgbClr val="111111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미션과 전체 구조</a:t>
            </a:r>
          </a:p>
        </p:txBody>
      </p:sp>
      <p:sp>
        <p:nvSpPr>
          <p:cNvPr id="119" name="TextBox 4"/>
          <p:cNvSpPr txBox="1"/>
          <p:nvPr/>
        </p:nvSpPr>
        <p:spPr>
          <a:xfrm>
            <a:off x="676655" y="1024127"/>
            <a:ext cx="106070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E9E5A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처음 보는 집에서 빨간 사과 2개를 찾고 출발점으로 복귀</a:t>
            </a:r>
          </a:p>
        </p:txBody>
      </p:sp>
      <p:sp>
        <p:nvSpPr>
          <p:cNvPr id="120" name="Rectangle 5"/>
          <p:cNvSpPr/>
          <p:nvPr/>
        </p:nvSpPr>
        <p:spPr>
          <a:xfrm>
            <a:off x="658367" y="6472173"/>
            <a:ext cx="10927082" cy="12701"/>
          </a:xfrm>
          <a:prstGeom prst="rect">
            <a:avLst/>
          </a:prstGeom>
          <a:solidFill>
            <a:srgbClr val="D7DED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6"/>
          <p:cNvSpPr txBox="1"/>
          <p:nvPr/>
        </p:nvSpPr>
        <p:spPr>
          <a:xfrm>
            <a:off x="658367" y="6559549"/>
            <a:ext cx="55778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PNU TECH WEEK 2026 | Autonomous Search and Rescue</a:t>
            </a:r>
          </a:p>
        </p:txBody>
      </p:sp>
      <p:sp>
        <p:nvSpPr>
          <p:cNvPr id="122" name="TextBox 7"/>
          <p:cNvSpPr txBox="1"/>
          <p:nvPr/>
        </p:nvSpPr>
        <p:spPr>
          <a:xfrm>
            <a:off x="11155680" y="6548628"/>
            <a:ext cx="42062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23" name="Oval 8"/>
          <p:cNvSpPr/>
          <p:nvPr/>
        </p:nvSpPr>
        <p:spPr>
          <a:xfrm>
            <a:off x="694944" y="1655064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9"/>
          <p:cNvSpPr txBox="1"/>
          <p:nvPr/>
        </p:nvSpPr>
        <p:spPr>
          <a:xfrm>
            <a:off x="923543" y="1536191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사전 지도 없이 탐색하며 지도와 위치를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동시에 추정</a:t>
            </a:r>
          </a:p>
        </p:txBody>
      </p:sp>
      <p:sp>
        <p:nvSpPr>
          <p:cNvPr id="125" name="Oval 10"/>
          <p:cNvSpPr/>
          <p:nvPr/>
        </p:nvSpPr>
        <p:spPr>
          <a:xfrm>
            <a:off x="694944" y="2496311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11"/>
          <p:cNvSpPr txBox="1"/>
          <p:nvPr/>
        </p:nvSpPr>
        <p:spPr>
          <a:xfrm>
            <a:off x="923543" y="2377439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센서: Wheel Encoder, Compass, LiDAR,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Camera, Accelerometer (GPS 미사용)</a:t>
            </a:r>
          </a:p>
        </p:txBody>
      </p:sp>
      <p:sp>
        <p:nvSpPr>
          <p:cNvPr id="127" name="Oval 12"/>
          <p:cNvSpPr/>
          <p:nvPr/>
        </p:nvSpPr>
        <p:spPr>
          <a:xfrm>
            <a:off x="694944" y="3337559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13"/>
          <p:cNvSpPr txBox="1"/>
          <p:nvPr/>
        </p:nvSpPr>
        <p:spPr>
          <a:xfrm>
            <a:off x="923543" y="3218688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파이프라인: 위치 추정 &gt; 지도 작성 &gt;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인식 &gt; 경로 계획 &gt; 주행</a:t>
            </a:r>
          </a:p>
        </p:txBody>
      </p:sp>
      <p:sp>
        <p:nvSpPr>
          <p:cNvPr id="129" name="Oval 14"/>
          <p:cNvSpPr/>
          <p:nvPr/>
        </p:nvSpPr>
        <p:spPr>
          <a:xfrm>
            <a:off x="694944" y="4178808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15"/>
          <p:cNvSpPr txBox="1"/>
          <p:nvPr/>
        </p:nvSpPr>
        <p:spPr>
          <a:xfrm>
            <a:off x="923543" y="4059935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FSM: SPIN &gt; EXPLORE / LOOK &gt;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APPROACH &gt; CONFIRM &gt; RETURN &gt; DONE</a:t>
            </a:r>
          </a:p>
        </p:txBody>
      </p:sp>
      <p:sp>
        <p:nvSpPr>
          <p:cNvPr id="131" name="Rectangle 16"/>
          <p:cNvSpPr/>
          <p:nvPr/>
        </p:nvSpPr>
        <p:spPr>
          <a:xfrm>
            <a:off x="6308509" y="1376172"/>
            <a:ext cx="4902885" cy="456285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32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40512" y="1408175"/>
            <a:ext cx="4838879" cy="4498849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TextBox 18"/>
          <p:cNvSpPr txBox="1"/>
          <p:nvPr/>
        </p:nvSpPr>
        <p:spPr>
          <a:xfrm>
            <a:off x="6007608" y="6076950"/>
            <a:ext cx="550468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실제 주행으로 완성된 지도 (빨간 원: 찾은 사과, 초록 사각형: 출발점)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Rectangle 2"/>
          <p:cNvSpPr/>
          <p:nvPr/>
        </p:nvSpPr>
        <p:spPr>
          <a:xfrm>
            <a:off x="109727" y="0"/>
            <a:ext cx="12081969" cy="64008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3"/>
          <p:cNvSpPr txBox="1"/>
          <p:nvPr/>
        </p:nvSpPr>
        <p:spPr>
          <a:xfrm>
            <a:off x="658367" y="365759"/>
            <a:ext cx="539496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400">
                <a:solidFill>
                  <a:srgbClr val="111111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위치 추정과 지도 작성</a:t>
            </a:r>
          </a:p>
        </p:txBody>
      </p:sp>
      <p:sp>
        <p:nvSpPr>
          <p:cNvPr id="138" name="TextBox 4"/>
          <p:cNvSpPr txBox="1"/>
          <p:nvPr/>
        </p:nvSpPr>
        <p:spPr>
          <a:xfrm>
            <a:off x="676655" y="1024127"/>
            <a:ext cx="106070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E9E5A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Encoder + Compass + Scan Matching, Log-odds Occupancy Grid</a:t>
            </a:r>
          </a:p>
        </p:txBody>
      </p:sp>
      <p:sp>
        <p:nvSpPr>
          <p:cNvPr id="139" name="Rectangle 5"/>
          <p:cNvSpPr/>
          <p:nvPr/>
        </p:nvSpPr>
        <p:spPr>
          <a:xfrm>
            <a:off x="658367" y="6472173"/>
            <a:ext cx="10927082" cy="12701"/>
          </a:xfrm>
          <a:prstGeom prst="rect">
            <a:avLst/>
          </a:prstGeom>
          <a:solidFill>
            <a:srgbClr val="D7DED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6"/>
          <p:cNvSpPr txBox="1"/>
          <p:nvPr/>
        </p:nvSpPr>
        <p:spPr>
          <a:xfrm>
            <a:off x="658367" y="6559549"/>
            <a:ext cx="55778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PNU TECH WEEK 2026 | Autonomous Search and Rescue</a:t>
            </a:r>
          </a:p>
        </p:txBody>
      </p:sp>
      <p:sp>
        <p:nvSpPr>
          <p:cNvPr id="141" name="TextBox 7"/>
          <p:cNvSpPr txBox="1"/>
          <p:nvPr/>
        </p:nvSpPr>
        <p:spPr>
          <a:xfrm>
            <a:off x="11155680" y="6548628"/>
            <a:ext cx="42062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42" name="Oval 8"/>
          <p:cNvSpPr/>
          <p:nvPr/>
        </p:nvSpPr>
        <p:spPr>
          <a:xfrm>
            <a:off x="694944" y="1655064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9"/>
          <p:cNvSpPr txBox="1"/>
          <p:nvPr/>
        </p:nvSpPr>
        <p:spPr>
          <a:xfrm>
            <a:off x="923543" y="1536191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바퀴로 거리, 나침반으로 방향을 재고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LiDAR 스캔을 지도에 맞춰 위치 보정</a:t>
            </a:r>
          </a:p>
        </p:txBody>
      </p:sp>
      <p:sp>
        <p:nvSpPr>
          <p:cNvPr id="144" name="Oval 10"/>
          <p:cNvSpPr/>
          <p:nvPr/>
        </p:nvSpPr>
        <p:spPr>
          <a:xfrm>
            <a:off x="694944" y="2496311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11"/>
          <p:cNvSpPr txBox="1"/>
          <p:nvPr/>
        </p:nvSpPr>
        <p:spPr>
          <a:xfrm>
            <a:off x="923543" y="2377439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5 cm 칸마다 벽과 빈 공간 점수를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누적하는 확률 지도</a:t>
            </a:r>
          </a:p>
        </p:txBody>
      </p:sp>
      <p:sp>
        <p:nvSpPr>
          <p:cNvPr id="146" name="Oval 12"/>
          <p:cNvSpPr/>
          <p:nvPr/>
        </p:nvSpPr>
        <p:spPr>
          <a:xfrm>
            <a:off x="694944" y="3337559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13"/>
          <p:cNvSpPr txBox="1"/>
          <p:nvPr/>
        </p:nvSpPr>
        <p:spPr>
          <a:xfrm>
            <a:off x="923543" y="3218688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카메라로 본 바닥, 카펫, 유리처럼 안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보이는 장애물을 별도 레이어로 기록</a:t>
            </a:r>
          </a:p>
        </p:txBody>
      </p:sp>
      <p:sp>
        <p:nvSpPr>
          <p:cNvPr id="148" name="Oval 14"/>
          <p:cNvSpPr/>
          <p:nvPr/>
        </p:nvSpPr>
        <p:spPr>
          <a:xfrm>
            <a:off x="694944" y="4178808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TextBox 15"/>
          <p:cNvSpPr txBox="1"/>
          <p:nvPr/>
        </p:nvSpPr>
        <p:spPr>
          <a:xfrm>
            <a:off x="923543" y="4059935"/>
            <a:ext cx="46634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위치 오차 평균 2~6 cm</a:t>
            </a:r>
          </a:p>
        </p:txBody>
      </p:sp>
      <p:sp>
        <p:nvSpPr>
          <p:cNvPr id="150" name="Rectangle 16"/>
          <p:cNvSpPr/>
          <p:nvPr/>
        </p:nvSpPr>
        <p:spPr>
          <a:xfrm>
            <a:off x="6460235" y="1385315"/>
            <a:ext cx="4654298" cy="465429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51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92240" y="1417319"/>
            <a:ext cx="4590289" cy="4590290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TextBox 18"/>
          <p:cNvSpPr txBox="1"/>
          <p:nvPr/>
        </p:nvSpPr>
        <p:spPr>
          <a:xfrm>
            <a:off x="6272784" y="6168388"/>
            <a:ext cx="5029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주행 중 대시보드 지도 (파란 선: A* 경로)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Rectangle 2"/>
          <p:cNvSpPr/>
          <p:nvPr/>
        </p:nvSpPr>
        <p:spPr>
          <a:xfrm>
            <a:off x="109727" y="0"/>
            <a:ext cx="12081969" cy="64008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TextBox 3"/>
          <p:cNvSpPr txBox="1"/>
          <p:nvPr/>
        </p:nvSpPr>
        <p:spPr>
          <a:xfrm>
            <a:off x="658367" y="365759"/>
            <a:ext cx="539496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400">
                <a:solidFill>
                  <a:srgbClr val="111111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사과 탐지</a:t>
            </a:r>
          </a:p>
        </p:txBody>
      </p:sp>
      <p:sp>
        <p:nvSpPr>
          <p:cNvPr id="157" name="TextBox 4"/>
          <p:cNvSpPr txBox="1"/>
          <p:nvPr/>
        </p:nvSpPr>
        <p:spPr>
          <a:xfrm>
            <a:off x="676655" y="1024127"/>
            <a:ext cx="106070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E9E5A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HSV 색 + 원형도 + 바닥 위치 조건</a:t>
            </a:r>
          </a:p>
        </p:txBody>
      </p:sp>
      <p:sp>
        <p:nvSpPr>
          <p:cNvPr id="158" name="Rectangle 5"/>
          <p:cNvSpPr/>
          <p:nvPr/>
        </p:nvSpPr>
        <p:spPr>
          <a:xfrm>
            <a:off x="658367" y="6472173"/>
            <a:ext cx="10927082" cy="12701"/>
          </a:xfrm>
          <a:prstGeom prst="rect">
            <a:avLst/>
          </a:prstGeom>
          <a:solidFill>
            <a:srgbClr val="D7DED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6"/>
          <p:cNvSpPr txBox="1"/>
          <p:nvPr/>
        </p:nvSpPr>
        <p:spPr>
          <a:xfrm>
            <a:off x="658367" y="6559549"/>
            <a:ext cx="55778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PNU TECH WEEK 2026 | Autonomous Search and Rescue</a:t>
            </a:r>
          </a:p>
        </p:txBody>
      </p:sp>
      <p:sp>
        <p:nvSpPr>
          <p:cNvPr id="160" name="TextBox 7"/>
          <p:cNvSpPr txBox="1"/>
          <p:nvPr/>
        </p:nvSpPr>
        <p:spPr>
          <a:xfrm>
            <a:off x="11155680" y="6548628"/>
            <a:ext cx="42062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61" name="Oval 8"/>
          <p:cNvSpPr/>
          <p:nvPr/>
        </p:nvSpPr>
        <p:spPr>
          <a:xfrm>
            <a:off x="694944" y="1655064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9"/>
          <p:cNvSpPr txBox="1"/>
          <p:nvPr/>
        </p:nvSpPr>
        <p:spPr>
          <a:xfrm>
            <a:off x="923543" y="1536191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빨갛고, 둥글고, 바닥에 놓인 물체만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사과로 인정</a:t>
            </a:r>
          </a:p>
        </p:txBody>
      </p:sp>
      <p:sp>
        <p:nvSpPr>
          <p:cNvPr id="163" name="Oval 10"/>
          <p:cNvSpPr/>
          <p:nvPr/>
        </p:nvSpPr>
        <p:spPr>
          <a:xfrm>
            <a:off x="694944" y="2496311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11"/>
          <p:cNvSpPr txBox="1"/>
          <p:nvPr/>
        </p:nvSpPr>
        <p:spPr>
          <a:xfrm>
            <a:off x="923543" y="2377439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바닥의 사과는 영상 속 높이 / 크기 비율이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일정해 식탁 위 과일을 걸러냄</a:t>
            </a:r>
          </a:p>
        </p:txBody>
      </p:sp>
      <p:sp>
        <p:nvSpPr>
          <p:cNvPr id="165" name="Oval 12"/>
          <p:cNvSpPr/>
          <p:nvPr/>
        </p:nvSpPr>
        <p:spPr>
          <a:xfrm>
            <a:off x="694944" y="3337559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TextBox 13"/>
          <p:cNvSpPr txBox="1"/>
          <p:nvPr/>
        </p:nvSpPr>
        <p:spPr>
          <a:xfrm>
            <a:off x="923543" y="3218688"/>
            <a:ext cx="46634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거리 Z = f x R / r (영상 속 크기로 계산)</a:t>
            </a:r>
          </a:p>
        </p:txBody>
      </p:sp>
      <p:sp>
        <p:nvSpPr>
          <p:cNvPr id="167" name="Oval 14"/>
          <p:cNvSpPr/>
          <p:nvPr/>
        </p:nvSpPr>
        <p:spPr>
          <a:xfrm>
            <a:off x="694944" y="3849623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15"/>
          <p:cNvSpPr txBox="1"/>
          <p:nvPr/>
        </p:nvSpPr>
        <p:spPr>
          <a:xfrm>
            <a:off x="923543" y="3730752"/>
            <a:ext cx="46634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시험 영상 288장에서 오탐 0건</a:t>
            </a:r>
          </a:p>
        </p:txBody>
      </p:sp>
      <p:sp>
        <p:nvSpPr>
          <p:cNvPr id="169" name="Rounded Rectangle 16"/>
          <p:cNvSpPr/>
          <p:nvPr/>
        </p:nvSpPr>
        <p:spPr>
          <a:xfrm>
            <a:off x="6062471" y="1527047"/>
            <a:ext cx="987553" cy="347473"/>
          </a:xfrm>
          <a:prstGeom prst="roundRect">
            <a:avLst>
              <a:gd name="adj" fmla="val 18000"/>
            </a:avLst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TextBox 17"/>
          <p:cNvSpPr txBox="1"/>
          <p:nvPr/>
        </p:nvSpPr>
        <p:spPr>
          <a:xfrm>
            <a:off x="6062471" y="1591817"/>
            <a:ext cx="98755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01 원거리</a:t>
            </a:r>
          </a:p>
        </p:txBody>
      </p:sp>
      <p:sp>
        <p:nvSpPr>
          <p:cNvPr id="171" name="Rounded Rectangle 18"/>
          <p:cNvSpPr/>
          <p:nvPr/>
        </p:nvSpPr>
        <p:spPr>
          <a:xfrm>
            <a:off x="8887968" y="1527047"/>
            <a:ext cx="987553" cy="347473"/>
          </a:xfrm>
          <a:prstGeom prst="roundRect">
            <a:avLst>
              <a:gd name="adj" fmla="val 18000"/>
            </a:avLst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19"/>
          <p:cNvSpPr txBox="1"/>
          <p:nvPr/>
        </p:nvSpPr>
        <p:spPr>
          <a:xfrm>
            <a:off x="8887968" y="1591817"/>
            <a:ext cx="98755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02 근접</a:t>
            </a:r>
          </a:p>
        </p:txBody>
      </p:sp>
      <p:sp>
        <p:nvSpPr>
          <p:cNvPr id="173" name="Rectangle 20"/>
          <p:cNvSpPr/>
          <p:nvPr/>
        </p:nvSpPr>
        <p:spPr>
          <a:xfrm>
            <a:off x="6030467" y="1949956"/>
            <a:ext cx="2679193" cy="202539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4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62471" y="1981961"/>
            <a:ext cx="2615185" cy="1961389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Rectangle 22"/>
          <p:cNvSpPr/>
          <p:nvPr/>
        </p:nvSpPr>
        <p:spPr>
          <a:xfrm>
            <a:off x="8855964" y="1949956"/>
            <a:ext cx="2679192" cy="202539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176" name="Picture 23" descr="Picture 2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87968" y="1981961"/>
            <a:ext cx="2615185" cy="1961389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Box 24"/>
          <p:cNvSpPr txBox="1"/>
          <p:nvPr/>
        </p:nvSpPr>
        <p:spPr>
          <a:xfrm>
            <a:off x="5980176" y="4174997"/>
            <a:ext cx="277063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먼 거리에서 탐지</a:t>
            </a:r>
          </a:p>
        </p:txBody>
      </p:sp>
      <p:sp>
        <p:nvSpPr>
          <p:cNvPr id="178" name="TextBox 25"/>
          <p:cNvSpPr txBox="1"/>
          <p:nvPr/>
        </p:nvSpPr>
        <p:spPr>
          <a:xfrm>
            <a:off x="8787383" y="4174997"/>
            <a:ext cx="2816353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접근 후 확인 (0.47 m)</a:t>
            </a:r>
          </a:p>
        </p:txBody>
      </p:sp>
      <p:sp>
        <p:nvSpPr>
          <p:cNvPr id="179" name="Rounded Rectangle 26"/>
          <p:cNvSpPr/>
          <p:nvPr/>
        </p:nvSpPr>
        <p:spPr>
          <a:xfrm>
            <a:off x="6053328" y="4736591"/>
            <a:ext cx="5458969" cy="841249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27"/>
          <p:cNvSpPr txBox="1"/>
          <p:nvPr/>
        </p:nvSpPr>
        <p:spPr>
          <a:xfrm>
            <a:off x="6327647" y="4882896"/>
            <a:ext cx="233172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44444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영상 반지름 r</a:t>
            </a:r>
          </a:p>
        </p:txBody>
      </p:sp>
      <p:sp>
        <p:nvSpPr>
          <p:cNvPr id="181" name="TextBox 28"/>
          <p:cNvSpPr txBox="1"/>
          <p:nvPr/>
        </p:nvSpPr>
        <p:spPr>
          <a:xfrm>
            <a:off x="8266175" y="4864861"/>
            <a:ext cx="1243585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9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Z = f x R / r</a:t>
            </a:r>
          </a:p>
        </p:txBody>
      </p:sp>
      <p:sp>
        <p:nvSpPr>
          <p:cNvPr id="182" name="TextBox 29"/>
          <p:cNvSpPr txBox="1"/>
          <p:nvPr/>
        </p:nvSpPr>
        <p:spPr>
          <a:xfrm>
            <a:off x="9729216" y="4882896"/>
            <a:ext cx="1536193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600">
                <a:solidFill>
                  <a:srgbClr val="444444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거리 Z 추정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Rectangle 2"/>
          <p:cNvSpPr/>
          <p:nvPr/>
        </p:nvSpPr>
        <p:spPr>
          <a:xfrm>
            <a:off x="109727" y="0"/>
            <a:ext cx="12081969" cy="64008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TextBox 3"/>
          <p:cNvSpPr txBox="1"/>
          <p:nvPr/>
        </p:nvSpPr>
        <p:spPr>
          <a:xfrm>
            <a:off x="658367" y="365759"/>
            <a:ext cx="539496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400">
                <a:solidFill>
                  <a:srgbClr val="111111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탐색과 경로 계획</a:t>
            </a:r>
          </a:p>
        </p:txBody>
      </p:sp>
      <p:sp>
        <p:nvSpPr>
          <p:cNvPr id="187" name="Rounded Rectangle 4"/>
          <p:cNvSpPr/>
          <p:nvPr/>
        </p:nvSpPr>
        <p:spPr>
          <a:xfrm>
            <a:off x="5074920" y="475487"/>
            <a:ext cx="676657" cy="347473"/>
          </a:xfrm>
          <a:prstGeom prst="roundRect">
            <a:avLst>
              <a:gd name="adj" fmla="val 18000"/>
            </a:avLst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5"/>
          <p:cNvSpPr txBox="1"/>
          <p:nvPr/>
        </p:nvSpPr>
        <p:spPr>
          <a:xfrm>
            <a:off x="5074920" y="540258"/>
            <a:ext cx="676657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핵심</a:t>
            </a:r>
          </a:p>
        </p:txBody>
      </p:sp>
      <p:sp>
        <p:nvSpPr>
          <p:cNvPr id="189" name="TextBox 6"/>
          <p:cNvSpPr txBox="1"/>
          <p:nvPr/>
        </p:nvSpPr>
        <p:spPr>
          <a:xfrm>
            <a:off x="676655" y="1024127"/>
            <a:ext cx="106070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E9E5A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시야 기반 Frontier + A*</a:t>
            </a:r>
          </a:p>
        </p:txBody>
      </p:sp>
      <p:sp>
        <p:nvSpPr>
          <p:cNvPr id="190" name="Rectangle 7"/>
          <p:cNvSpPr/>
          <p:nvPr/>
        </p:nvSpPr>
        <p:spPr>
          <a:xfrm>
            <a:off x="658367" y="6472173"/>
            <a:ext cx="10927082" cy="12701"/>
          </a:xfrm>
          <a:prstGeom prst="rect">
            <a:avLst/>
          </a:prstGeom>
          <a:solidFill>
            <a:srgbClr val="D7DED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TextBox 8"/>
          <p:cNvSpPr txBox="1"/>
          <p:nvPr/>
        </p:nvSpPr>
        <p:spPr>
          <a:xfrm>
            <a:off x="658367" y="6559549"/>
            <a:ext cx="55778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PNU TECH WEEK 2026 | Autonomous Search and Rescue</a:t>
            </a:r>
          </a:p>
        </p:txBody>
      </p:sp>
      <p:sp>
        <p:nvSpPr>
          <p:cNvPr id="192" name="TextBox 9"/>
          <p:cNvSpPr txBox="1"/>
          <p:nvPr/>
        </p:nvSpPr>
        <p:spPr>
          <a:xfrm>
            <a:off x="11155680" y="6548628"/>
            <a:ext cx="42062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93" name="Oval 10"/>
          <p:cNvSpPr/>
          <p:nvPr/>
        </p:nvSpPr>
        <p:spPr>
          <a:xfrm>
            <a:off x="694944" y="1655064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TextBox 11"/>
          <p:cNvSpPr txBox="1"/>
          <p:nvPr/>
        </p:nvSpPr>
        <p:spPr>
          <a:xfrm>
            <a:off x="923543" y="1536191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LiDAR가 아니라 카메라로 실제로 본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바닥을 기준으로 탐색</a:t>
            </a:r>
          </a:p>
        </p:txBody>
      </p:sp>
      <p:sp>
        <p:nvSpPr>
          <p:cNvPr id="195" name="Oval 12"/>
          <p:cNvSpPr/>
          <p:nvPr/>
        </p:nvSpPr>
        <p:spPr>
          <a:xfrm>
            <a:off x="694944" y="2496311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13"/>
          <p:cNvSpPr txBox="1"/>
          <p:nvPr/>
        </p:nvSpPr>
        <p:spPr>
          <a:xfrm>
            <a:off x="923543" y="2377439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새 공간에 들어서면 못 본 방향만큼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제자리에서 둘러보기</a:t>
            </a:r>
          </a:p>
        </p:txBody>
      </p:sp>
      <p:sp>
        <p:nvSpPr>
          <p:cNvPr id="197" name="Oval 14"/>
          <p:cNvSpPr/>
          <p:nvPr/>
        </p:nvSpPr>
        <p:spPr>
          <a:xfrm>
            <a:off x="694944" y="3337559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15"/>
          <p:cNvSpPr txBox="1"/>
          <p:nvPr/>
        </p:nvSpPr>
        <p:spPr>
          <a:xfrm>
            <a:off x="923543" y="3218688"/>
            <a:ext cx="46634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오른쪽 우선, 이미 지나간 길에는 벌점</a:t>
            </a:r>
          </a:p>
        </p:txBody>
      </p:sp>
      <p:sp>
        <p:nvSpPr>
          <p:cNvPr id="199" name="Oval 16"/>
          <p:cNvSpPr/>
          <p:nvPr/>
        </p:nvSpPr>
        <p:spPr>
          <a:xfrm>
            <a:off x="694944" y="3849623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17"/>
          <p:cNvSpPr txBox="1"/>
          <p:nvPr/>
        </p:nvSpPr>
        <p:spPr>
          <a:xfrm>
            <a:off x="923543" y="3730752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벽 근처를 비싸게 매긴 Costmap 위에서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A*로 최단 안전 경로</a:t>
            </a:r>
          </a:p>
        </p:txBody>
      </p:sp>
      <p:sp>
        <p:nvSpPr>
          <p:cNvPr id="201" name="Rounded Rectangle 18"/>
          <p:cNvSpPr/>
          <p:nvPr/>
        </p:nvSpPr>
        <p:spPr>
          <a:xfrm>
            <a:off x="667512" y="4910328"/>
            <a:ext cx="4983480" cy="932689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Rectangle 19"/>
          <p:cNvSpPr/>
          <p:nvPr/>
        </p:nvSpPr>
        <p:spPr>
          <a:xfrm>
            <a:off x="667512" y="4910328"/>
            <a:ext cx="91441" cy="932689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20"/>
          <p:cNvSpPr txBox="1"/>
          <p:nvPr/>
        </p:nvSpPr>
        <p:spPr>
          <a:xfrm>
            <a:off x="941831" y="5010911"/>
            <a:ext cx="4416554" cy="615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defRPr sz="20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지나갔다가 아니라</a:t>
            </a:r>
          </a:p>
          <a:p>
            <a:pPr>
              <a:lnSpc>
                <a:spcPct val="102000"/>
              </a:lnSpc>
              <a:defRPr sz="20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pPr>
            <a:r>
              <a:t>실제로 봤다를 기준으로 탐색</a:t>
            </a:r>
          </a:p>
        </p:txBody>
      </p:sp>
      <p:sp>
        <p:nvSpPr>
          <p:cNvPr id="204" name="Rectangle 21"/>
          <p:cNvSpPr/>
          <p:nvPr/>
        </p:nvSpPr>
        <p:spPr>
          <a:xfrm>
            <a:off x="6357684" y="1385316"/>
            <a:ext cx="4804535" cy="447141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05" name="Picture 22" descr="Picture 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89687" y="1417319"/>
            <a:ext cx="4740528" cy="4407410"/>
          </a:xfrm>
          <a:prstGeom prst="rect">
            <a:avLst/>
          </a:prstGeom>
          <a:ln w="12700">
            <a:miter lim="400000"/>
          </a:ln>
        </p:spPr>
      </p:pic>
      <p:sp>
        <p:nvSpPr>
          <p:cNvPr id="206" name="TextBox 23"/>
          <p:cNvSpPr txBox="1"/>
          <p:nvPr/>
        </p:nvSpPr>
        <p:spPr>
          <a:xfrm>
            <a:off x="6126479" y="5985509"/>
            <a:ext cx="5266945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흰색: 카메라로 확인한 바닥, 하늘색: 아직 못 본 곳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Rectangle 2"/>
          <p:cNvSpPr/>
          <p:nvPr/>
        </p:nvSpPr>
        <p:spPr>
          <a:xfrm>
            <a:off x="109727" y="0"/>
            <a:ext cx="12081969" cy="64008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TextBox 3"/>
          <p:cNvSpPr txBox="1"/>
          <p:nvPr/>
        </p:nvSpPr>
        <p:spPr>
          <a:xfrm>
            <a:off x="658367" y="365759"/>
            <a:ext cx="539496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400">
                <a:solidFill>
                  <a:srgbClr val="111111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사람 감지와 회피</a:t>
            </a:r>
          </a:p>
        </p:txBody>
      </p:sp>
      <p:sp>
        <p:nvSpPr>
          <p:cNvPr id="211" name="TextBox 4"/>
          <p:cNvSpPr txBox="1"/>
          <p:nvPr/>
        </p:nvSpPr>
        <p:spPr>
          <a:xfrm>
            <a:off x="676655" y="1024127"/>
            <a:ext cx="106070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E9E5A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Scan-to-Scan 움직임 감지 + 6초 경로 예측</a:t>
            </a:r>
          </a:p>
        </p:txBody>
      </p:sp>
      <p:sp>
        <p:nvSpPr>
          <p:cNvPr id="212" name="Rectangle 5"/>
          <p:cNvSpPr/>
          <p:nvPr/>
        </p:nvSpPr>
        <p:spPr>
          <a:xfrm>
            <a:off x="658367" y="6472173"/>
            <a:ext cx="10927082" cy="12701"/>
          </a:xfrm>
          <a:prstGeom prst="rect">
            <a:avLst/>
          </a:prstGeom>
          <a:solidFill>
            <a:srgbClr val="D7DED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TextBox 6"/>
          <p:cNvSpPr txBox="1"/>
          <p:nvPr/>
        </p:nvSpPr>
        <p:spPr>
          <a:xfrm>
            <a:off x="658367" y="6559549"/>
            <a:ext cx="55778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PNU TECH WEEK 2026 | Autonomous Search and Rescue</a:t>
            </a:r>
          </a:p>
        </p:txBody>
      </p:sp>
      <p:sp>
        <p:nvSpPr>
          <p:cNvPr id="214" name="TextBox 7"/>
          <p:cNvSpPr txBox="1"/>
          <p:nvPr/>
        </p:nvSpPr>
        <p:spPr>
          <a:xfrm>
            <a:off x="11155680" y="6548628"/>
            <a:ext cx="42062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215" name="Oval 8"/>
          <p:cNvSpPr/>
          <p:nvPr/>
        </p:nvSpPr>
        <p:spPr>
          <a:xfrm>
            <a:off x="694944" y="1655064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TextBox 9"/>
          <p:cNvSpPr txBox="1"/>
          <p:nvPr/>
        </p:nvSpPr>
        <p:spPr>
          <a:xfrm>
            <a:off x="923543" y="1536191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1.4초 전 LiDAR 스캔과 비교해 움직이는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사람을 감지</a:t>
            </a:r>
          </a:p>
        </p:txBody>
      </p:sp>
      <p:sp>
        <p:nvSpPr>
          <p:cNvPr id="217" name="Oval 10"/>
          <p:cNvSpPr/>
          <p:nvPr/>
        </p:nvSpPr>
        <p:spPr>
          <a:xfrm>
            <a:off x="694944" y="2496311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11"/>
          <p:cNvSpPr txBox="1"/>
          <p:nvPr/>
        </p:nvSpPr>
        <p:spPr>
          <a:xfrm>
            <a:off x="923543" y="2377439"/>
            <a:ext cx="46634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사람의 0~6초 뒤 경로를 예측</a:t>
            </a:r>
          </a:p>
        </p:txBody>
      </p:sp>
      <p:sp>
        <p:nvSpPr>
          <p:cNvPr id="219" name="Oval 12"/>
          <p:cNvSpPr/>
          <p:nvPr/>
        </p:nvSpPr>
        <p:spPr>
          <a:xfrm>
            <a:off x="694944" y="3008376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TextBox 13"/>
          <p:cNvSpPr txBox="1"/>
          <p:nvPr/>
        </p:nvSpPr>
        <p:spPr>
          <a:xfrm>
            <a:off x="923543" y="2889504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바로 앞 1 m 안이면 멈춰서 양보, 예상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경로가 0.8 m 안이면 미리 비켜 줌</a:t>
            </a:r>
          </a:p>
        </p:txBody>
      </p:sp>
      <p:sp>
        <p:nvSpPr>
          <p:cNvPr id="221" name="Oval 14"/>
          <p:cNvSpPr/>
          <p:nvPr/>
        </p:nvSpPr>
        <p:spPr>
          <a:xfrm>
            <a:off x="694944" y="3849623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15"/>
          <p:cNvSpPr txBox="1"/>
          <p:nvPr/>
        </p:nvSpPr>
        <p:spPr>
          <a:xfrm>
            <a:off x="923543" y="3730752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사람 주변 0.6 m는 통행 금지 구역으로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경로 계획</a:t>
            </a:r>
          </a:p>
        </p:txBody>
      </p:sp>
      <p:sp>
        <p:nvSpPr>
          <p:cNvPr id="223" name="Rectangle 16"/>
          <p:cNvSpPr/>
          <p:nvPr/>
        </p:nvSpPr>
        <p:spPr>
          <a:xfrm>
            <a:off x="5957315" y="1604772"/>
            <a:ext cx="2916937" cy="29169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4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9320" y="1636776"/>
            <a:ext cx="2852929" cy="2852929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Rectangle 18"/>
          <p:cNvSpPr/>
          <p:nvPr/>
        </p:nvSpPr>
        <p:spPr>
          <a:xfrm>
            <a:off x="9002268" y="2108835"/>
            <a:ext cx="2523745" cy="1908811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6" name="Picture 19" descr="Picture 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34271" y="2140839"/>
            <a:ext cx="2459737" cy="1844803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TextBox 20"/>
          <p:cNvSpPr txBox="1"/>
          <p:nvPr/>
        </p:nvSpPr>
        <p:spPr>
          <a:xfrm>
            <a:off x="5916167" y="4683252"/>
            <a:ext cx="301752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2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보라색 원: 감지한 사람</a:t>
            </a:r>
          </a:p>
          <a:p>
            <a:pPr algn="ctr">
              <a:defRPr sz="12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화살표: 예상 이동 방향</a:t>
            </a:r>
          </a:p>
        </p:txBody>
      </p:sp>
      <p:sp>
        <p:nvSpPr>
          <p:cNvPr id="228" name="TextBox 21"/>
          <p:cNvSpPr txBox="1"/>
          <p:nvPr/>
        </p:nvSpPr>
        <p:spPr>
          <a:xfrm>
            <a:off x="8942831" y="4696205"/>
            <a:ext cx="2642617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같은 순간 로봇 카메라</a:t>
            </a:r>
          </a:p>
        </p:txBody>
      </p:sp>
      <p:sp>
        <p:nvSpPr>
          <p:cNvPr id="229" name="Rounded Rectangle 22"/>
          <p:cNvSpPr/>
          <p:nvPr/>
        </p:nvSpPr>
        <p:spPr>
          <a:xfrm>
            <a:off x="6025896" y="5532120"/>
            <a:ext cx="5431537" cy="438913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23"/>
          <p:cNvSpPr txBox="1"/>
          <p:nvPr/>
        </p:nvSpPr>
        <p:spPr>
          <a:xfrm>
            <a:off x="6153911" y="5586984"/>
            <a:ext cx="517550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5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감지  &gt;  6초 예측  &gt;  정지 또는 우회  &gt;  안전 경로 재계획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Rectangle 2"/>
          <p:cNvSpPr/>
          <p:nvPr/>
        </p:nvSpPr>
        <p:spPr>
          <a:xfrm>
            <a:off x="109727" y="0"/>
            <a:ext cx="12081969" cy="64008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3"/>
          <p:cNvSpPr txBox="1"/>
          <p:nvPr/>
        </p:nvSpPr>
        <p:spPr>
          <a:xfrm>
            <a:off x="658367" y="365759"/>
            <a:ext cx="5394962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400">
                <a:solidFill>
                  <a:srgbClr val="111111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사람과 로봇의 정보 공유 + 결과</a:t>
            </a:r>
          </a:p>
        </p:txBody>
      </p:sp>
      <p:sp>
        <p:nvSpPr>
          <p:cNvPr id="235" name="TextBox 4"/>
          <p:cNvSpPr txBox="1"/>
          <p:nvPr/>
        </p:nvSpPr>
        <p:spPr>
          <a:xfrm>
            <a:off x="676655" y="1024127"/>
            <a:ext cx="1060704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E9E5A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텍스트 명령, 실시간 대시보드, 임무 보고서</a:t>
            </a:r>
          </a:p>
        </p:txBody>
      </p:sp>
      <p:sp>
        <p:nvSpPr>
          <p:cNvPr id="236" name="Rectangle 5"/>
          <p:cNvSpPr/>
          <p:nvPr/>
        </p:nvSpPr>
        <p:spPr>
          <a:xfrm>
            <a:off x="658367" y="6472173"/>
            <a:ext cx="10927082" cy="12701"/>
          </a:xfrm>
          <a:prstGeom prst="rect">
            <a:avLst/>
          </a:prstGeom>
          <a:solidFill>
            <a:srgbClr val="D7DED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TextBox 6"/>
          <p:cNvSpPr txBox="1"/>
          <p:nvPr/>
        </p:nvSpPr>
        <p:spPr>
          <a:xfrm>
            <a:off x="658367" y="6559549"/>
            <a:ext cx="55778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PNU TECH WEEK 2026 | Autonomous Search and Rescue</a:t>
            </a:r>
          </a:p>
        </p:txBody>
      </p:sp>
      <p:sp>
        <p:nvSpPr>
          <p:cNvPr id="238" name="TextBox 7"/>
          <p:cNvSpPr txBox="1"/>
          <p:nvPr/>
        </p:nvSpPr>
        <p:spPr>
          <a:xfrm>
            <a:off x="11155680" y="6548628"/>
            <a:ext cx="420625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239" name="Oval 8"/>
          <p:cNvSpPr/>
          <p:nvPr/>
        </p:nvSpPr>
        <p:spPr>
          <a:xfrm>
            <a:off x="694944" y="1655064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TextBox 9"/>
          <p:cNvSpPr txBox="1"/>
          <p:nvPr/>
        </p:nvSpPr>
        <p:spPr>
          <a:xfrm>
            <a:off x="923543" y="1536191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텍스트 명령: find 2 red apples, pause,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resume, home, status</a:t>
            </a:r>
          </a:p>
        </p:txBody>
      </p:sp>
      <p:sp>
        <p:nvSpPr>
          <p:cNvPr id="241" name="Oval 10"/>
          <p:cNvSpPr/>
          <p:nvPr/>
        </p:nvSpPr>
        <p:spPr>
          <a:xfrm>
            <a:off x="694944" y="2496311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11"/>
          <p:cNvSpPr txBox="1"/>
          <p:nvPr/>
        </p:nvSpPr>
        <p:spPr>
          <a:xfrm>
            <a:off x="923543" y="2377439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대시보드: 지도, 경로, 사람, 카메라,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상태 메시지를 한 화면에</a:t>
            </a:r>
          </a:p>
        </p:txBody>
      </p:sp>
      <p:sp>
        <p:nvSpPr>
          <p:cNvPr id="243" name="Oval 12"/>
          <p:cNvSpPr/>
          <p:nvPr/>
        </p:nvSpPr>
        <p:spPr>
          <a:xfrm>
            <a:off x="694944" y="3337559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extBox 13"/>
          <p:cNvSpPr txBox="1"/>
          <p:nvPr/>
        </p:nvSpPr>
        <p:spPr>
          <a:xfrm>
            <a:off x="923543" y="3218688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결과: 4회 중 4회 완주, 복귀 오차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4~11 cm, 최단 336초</a:t>
            </a:r>
          </a:p>
        </p:txBody>
      </p:sp>
      <p:sp>
        <p:nvSpPr>
          <p:cNvPr id="245" name="Oval 14"/>
          <p:cNvSpPr/>
          <p:nvPr/>
        </p:nvSpPr>
        <p:spPr>
          <a:xfrm>
            <a:off x="694944" y="4178808"/>
            <a:ext cx="86869" cy="86869"/>
          </a:xfrm>
          <a:prstGeom prst="ellipse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15"/>
          <p:cNvSpPr txBox="1"/>
          <p:nvPr/>
        </p:nvSpPr>
        <p:spPr>
          <a:xfrm>
            <a:off x="923543" y="4059935"/>
            <a:ext cx="4663442" cy="568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활용: 재난 현장에서 지도를 그리며</a:t>
            </a:r>
          </a:p>
          <a:p>
            <a:pPr>
              <a:lnSpc>
                <a:spcPct val="113000"/>
              </a:lnSpc>
              <a:defRPr>
                <a:solidFill>
                  <a:srgbClr val="111111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pPr>
            <a:r>
              <a:t>구조 대상을 찾는 로봇</a:t>
            </a:r>
          </a:p>
        </p:txBody>
      </p:sp>
      <p:sp>
        <p:nvSpPr>
          <p:cNvPr id="247" name="Rectangle 16"/>
          <p:cNvSpPr/>
          <p:nvPr/>
        </p:nvSpPr>
        <p:spPr>
          <a:xfrm>
            <a:off x="5856730" y="1490549"/>
            <a:ext cx="5623562" cy="345627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48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88735" y="1522552"/>
            <a:ext cx="5559554" cy="3392270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TextBox 18"/>
          <p:cNvSpPr txBox="1"/>
          <p:nvPr/>
        </p:nvSpPr>
        <p:spPr>
          <a:xfrm>
            <a:off x="5870447" y="5075603"/>
            <a:ext cx="559613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임무 완료 순간의 대시보드</a:t>
            </a:r>
          </a:p>
        </p:txBody>
      </p:sp>
      <p:sp>
        <p:nvSpPr>
          <p:cNvPr id="250" name="Rounded Rectangle 19"/>
          <p:cNvSpPr/>
          <p:nvPr/>
        </p:nvSpPr>
        <p:spPr>
          <a:xfrm>
            <a:off x="6007608" y="5367528"/>
            <a:ext cx="1581913" cy="704089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TextBox 20"/>
          <p:cNvSpPr txBox="1"/>
          <p:nvPr/>
        </p:nvSpPr>
        <p:spPr>
          <a:xfrm>
            <a:off x="6007608" y="5450077"/>
            <a:ext cx="158191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9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4 / 4</a:t>
            </a:r>
          </a:p>
        </p:txBody>
      </p:sp>
      <p:sp>
        <p:nvSpPr>
          <p:cNvPr id="252" name="TextBox 21"/>
          <p:cNvSpPr txBox="1"/>
          <p:nvPr/>
        </p:nvSpPr>
        <p:spPr>
          <a:xfrm>
            <a:off x="6007608" y="5787898"/>
            <a:ext cx="158191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완주</a:t>
            </a:r>
          </a:p>
        </p:txBody>
      </p:sp>
      <p:sp>
        <p:nvSpPr>
          <p:cNvPr id="253" name="Rounded Rectangle 22"/>
          <p:cNvSpPr/>
          <p:nvPr/>
        </p:nvSpPr>
        <p:spPr>
          <a:xfrm>
            <a:off x="7790688" y="5367528"/>
            <a:ext cx="1581912" cy="704089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23"/>
          <p:cNvSpPr txBox="1"/>
          <p:nvPr/>
        </p:nvSpPr>
        <p:spPr>
          <a:xfrm>
            <a:off x="7790688" y="5450077"/>
            <a:ext cx="158191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9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4~11 cm</a:t>
            </a:r>
          </a:p>
        </p:txBody>
      </p:sp>
      <p:sp>
        <p:nvSpPr>
          <p:cNvPr id="255" name="TextBox 24"/>
          <p:cNvSpPr txBox="1"/>
          <p:nvPr/>
        </p:nvSpPr>
        <p:spPr>
          <a:xfrm>
            <a:off x="7790688" y="5787898"/>
            <a:ext cx="158191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복귀 오차</a:t>
            </a:r>
          </a:p>
        </p:txBody>
      </p:sp>
      <p:sp>
        <p:nvSpPr>
          <p:cNvPr id="256" name="Rounded Rectangle 25"/>
          <p:cNvSpPr/>
          <p:nvPr/>
        </p:nvSpPr>
        <p:spPr>
          <a:xfrm>
            <a:off x="9573768" y="5367528"/>
            <a:ext cx="1581913" cy="704089"/>
          </a:xfrm>
          <a:prstGeom prst="roundRect">
            <a:avLst>
              <a:gd name="adj" fmla="val 16667"/>
            </a:avLst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26"/>
          <p:cNvSpPr txBox="1"/>
          <p:nvPr/>
        </p:nvSpPr>
        <p:spPr>
          <a:xfrm>
            <a:off x="9573768" y="5450077"/>
            <a:ext cx="1581913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9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336초</a:t>
            </a:r>
          </a:p>
        </p:txBody>
      </p:sp>
      <p:sp>
        <p:nvSpPr>
          <p:cNvPr id="258" name="TextBox 27"/>
          <p:cNvSpPr txBox="1"/>
          <p:nvPr/>
        </p:nvSpPr>
        <p:spPr>
          <a:xfrm>
            <a:off x="9573768" y="5787898"/>
            <a:ext cx="158191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최단 기록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-1" y="0"/>
            <a:ext cx="146306" cy="6858000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Rectangle 2"/>
          <p:cNvSpPr/>
          <p:nvPr/>
        </p:nvSpPr>
        <p:spPr>
          <a:xfrm>
            <a:off x="8028430" y="0"/>
            <a:ext cx="4163264" cy="6858000"/>
          </a:xfrm>
          <a:prstGeom prst="rect">
            <a:avLst/>
          </a:prstGeom>
          <a:solidFill>
            <a:srgbClr val="E8F5E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Rectangle 3"/>
          <p:cNvSpPr/>
          <p:nvPr/>
        </p:nvSpPr>
        <p:spPr>
          <a:xfrm>
            <a:off x="8028430" y="0"/>
            <a:ext cx="100585" cy="6858000"/>
          </a:xfrm>
          <a:prstGeom prst="rect">
            <a:avLst/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3" name="TextBox 4"/>
          <p:cNvSpPr txBox="1"/>
          <p:nvPr/>
        </p:nvSpPr>
        <p:spPr>
          <a:xfrm>
            <a:off x="731519" y="612648"/>
            <a:ext cx="42062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PNU TECH WEEK 2026</a:t>
            </a:r>
          </a:p>
        </p:txBody>
      </p:sp>
      <p:sp>
        <p:nvSpPr>
          <p:cNvPr id="264" name="TextBox 5"/>
          <p:cNvSpPr txBox="1"/>
          <p:nvPr/>
        </p:nvSpPr>
        <p:spPr>
          <a:xfrm>
            <a:off x="713232" y="1938527"/>
            <a:ext cx="665683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000">
                <a:solidFill>
                  <a:srgbClr val="111111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감사합니다</a:t>
            </a:r>
          </a:p>
        </p:txBody>
      </p:sp>
      <p:sp>
        <p:nvSpPr>
          <p:cNvPr id="265" name="TextBox 6"/>
          <p:cNvSpPr txBox="1"/>
          <p:nvPr/>
        </p:nvSpPr>
        <p:spPr>
          <a:xfrm>
            <a:off x="740663" y="2953511"/>
            <a:ext cx="2194562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2400">
                <a:solidFill>
                  <a:srgbClr val="1E9E5A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Q&amp;A</a:t>
            </a:r>
          </a:p>
        </p:txBody>
      </p:sp>
      <p:sp>
        <p:nvSpPr>
          <p:cNvPr id="266" name="Rectangle 7"/>
          <p:cNvSpPr/>
          <p:nvPr/>
        </p:nvSpPr>
        <p:spPr>
          <a:xfrm>
            <a:off x="740663" y="3692397"/>
            <a:ext cx="6163057" cy="12701"/>
          </a:xfrm>
          <a:prstGeom prst="rect">
            <a:avLst/>
          </a:prstGeom>
          <a:solidFill>
            <a:srgbClr val="D7DED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TextBox 8"/>
          <p:cNvSpPr txBox="1"/>
          <p:nvPr/>
        </p:nvSpPr>
        <p:spPr>
          <a:xfrm>
            <a:off x="740663" y="4014215"/>
            <a:ext cx="32004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111111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김대욱 팀(정원석, 박유현, 한대희)</a:t>
            </a:r>
          </a:p>
        </p:txBody>
      </p:sp>
      <p:sp>
        <p:nvSpPr>
          <p:cNvPr id="268" name="TextBox 9"/>
          <p:cNvSpPr txBox="1"/>
          <p:nvPr/>
        </p:nvSpPr>
        <p:spPr>
          <a:xfrm>
            <a:off x="740664" y="4443984"/>
            <a:ext cx="566928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444444"/>
                </a:solidFill>
                <a:latin typeface="Apple SD 산돌고딕 Neo 일반체"/>
                <a:ea typeface="Apple SD 산돌고딕 Neo 일반체"/>
                <a:cs typeface="Apple SD 산돌고딕 Neo 일반체"/>
                <a:sym typeface="Apple SD 산돌고딕 Neo 일반체"/>
              </a:defRPr>
            </a:lvl1pPr>
          </a:lstStyle>
          <a:p>
            <a:pPr/>
            <a:r>
              <a:t>Autonomous Search and Rescue with TurtleBot3</a:t>
            </a:r>
          </a:p>
        </p:txBody>
      </p:sp>
      <p:sp>
        <p:nvSpPr>
          <p:cNvPr id="269" name="TextBox 10"/>
          <p:cNvSpPr txBox="1"/>
          <p:nvPr/>
        </p:nvSpPr>
        <p:spPr>
          <a:xfrm>
            <a:off x="8641080" y="2057400"/>
            <a:ext cx="2788921" cy="26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MISSION COMPLETE</a:t>
            </a:r>
          </a:p>
        </p:txBody>
      </p:sp>
      <p:sp>
        <p:nvSpPr>
          <p:cNvPr id="270" name="Rounded Rectangle 11"/>
          <p:cNvSpPr/>
          <p:nvPr/>
        </p:nvSpPr>
        <p:spPr>
          <a:xfrm>
            <a:off x="9582911" y="2871216"/>
            <a:ext cx="932689" cy="932689"/>
          </a:xfrm>
          <a:prstGeom prst="roundRect">
            <a:avLst>
              <a:gd name="adj" fmla="val 16667"/>
            </a:avLst>
          </a:prstGeom>
          <a:solidFill>
            <a:srgbClr val="1E9E5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TextBox 12"/>
          <p:cNvSpPr txBox="1"/>
          <p:nvPr/>
        </p:nvSpPr>
        <p:spPr>
          <a:xfrm>
            <a:off x="9582911" y="3104388"/>
            <a:ext cx="932689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000">
                <a:solidFill>
                  <a:srgbClr val="FFFFFF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72" name="TextBox 13"/>
          <p:cNvSpPr txBox="1"/>
          <p:nvPr/>
        </p:nvSpPr>
        <p:spPr>
          <a:xfrm>
            <a:off x="8577071" y="4142232"/>
            <a:ext cx="29260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2 APPLES FOUND</a:t>
            </a:r>
          </a:p>
        </p:txBody>
      </p:sp>
      <p:sp>
        <p:nvSpPr>
          <p:cNvPr id="273" name="TextBox 14"/>
          <p:cNvSpPr txBox="1"/>
          <p:nvPr/>
        </p:nvSpPr>
        <p:spPr>
          <a:xfrm>
            <a:off x="8577071" y="4507991"/>
            <a:ext cx="29260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300">
                <a:solidFill>
                  <a:srgbClr val="0F6B3C"/>
                </a:solidFill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/>
            <a:r>
              <a:t>RETURN COMPLETE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